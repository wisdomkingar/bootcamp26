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+ CSS Styling  •  Day 1 –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Notes  •  HTML &amp; CSS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896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structure, headings, paragraphs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82880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Lists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tags, ordered/unordered/description lists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3464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907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Images, 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Hyperlinks, &lt;img&gt;, &lt;table&gt;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84048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Media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form elements, video/audio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82296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2296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82296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896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&lt;header&gt;, &lt;footer&gt;, &lt;nav&gt;, &lt;section&gt;, &lt;article&gt;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82880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82880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182880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block vs inline,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3464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83464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283464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30952" y="2907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Intro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selectors, application methods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40480"/>
            <a:ext cx="45720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3840480"/>
            <a:ext cx="420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30952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Properties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30952" y="4224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backgrounds, box model, positioning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 &amp; how a document is structured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229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3840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and layout of web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elements (tags) to mark and describe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browsers how to display content (headings, links, images…)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content accessible and searchable (SEO)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229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HyperText Markup Language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207008"/>
            <a:ext cx="3840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→ links between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→ annotates content with tags like &lt;h1&gt;, &lt;p&gt;, &lt;a&gt;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→ structured rules browsers understand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593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49624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The simplest HTML page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Page&lt;/title&gt;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World!&lt;/h1&gt;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page.&lt;/p&gt;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35204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3520440"/>
            <a:ext cx="374904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538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renders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3813048"/>
            <a:ext cx="3474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World!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first page.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Document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286000" cy="804672"/>
          </a:xfrm>
          <a:prstGeom prst="rect">
            <a:avLst>
              <a:gd name="adj" fmla="val 11364"/>
            </a:avLst>
          </a:prstGeom>
          <a:solidFill>
            <a:srgbClr val="D9770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80467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this is HTML5 to the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64792"/>
            <a:ext cx="2286000" cy="804672"/>
          </a:xfrm>
          <a:prstGeom prst="rect">
            <a:avLst>
              <a:gd name="adj" fmla="val 11364"/>
            </a:avLst>
          </a:prstGeom>
          <a:solidFill>
            <a:srgbClr val="2563EB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6479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176479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 — wraps the entire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24912"/>
            <a:ext cx="2286000" cy="804672"/>
          </a:xfrm>
          <a:prstGeom prst="rect">
            <a:avLst>
              <a:gd name="adj" fmla="val 11364"/>
            </a:avLst>
          </a:prstGeom>
          <a:solidFill>
            <a:srgbClr val="16A34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2491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72491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title, charset, stylesheet links (not visible to users)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68503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85032"/>
            <a:ext cx="2286000" cy="804672"/>
          </a:xfrm>
          <a:prstGeom prst="rect">
            <a:avLst>
              <a:gd name="adj" fmla="val 11364"/>
            </a:avLst>
          </a:prstGeom>
          <a:solidFill>
            <a:srgbClr val="C25E7A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8503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68503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content: headings, text, images, buttons…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&lt;title&gt;Page Title&lt;/title&gt;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 href="style.css"&gt;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&lt;h1&gt;Visible Content Here&lt;/h1&gt;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 &lt;h1&gt; to &lt;h6&gt;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headings.html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3749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&lt;h1&gt;Main Page Title&lt;/h1&gt;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 Heading&lt;/h2&gt;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&lt;h3&gt;Sub-section&lt;/h3&gt;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&lt;h4&gt;Sub-sub heading&lt;/h4&gt;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&lt;h5&gt;Minor heading&lt;/h5&gt;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&lt;h6&gt;Smallest heading&lt;/h6&gt;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04672"/>
            <a:ext cx="41148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822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1115568"/>
            <a:ext cx="384048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Title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1561338"/>
            <a:ext cx="38404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904238"/>
            <a:ext cx="38404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178558"/>
            <a:ext cx="384048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Sub-sub heading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418588"/>
            <a:ext cx="384048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heading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41473"/>
            <a:ext cx="384048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heading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850392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2926080"/>
            <a:ext cx="8174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310128"/>
            <a:ext cx="82296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most important (one per page, for SEO)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h2–h3 used for sections &amp; sub-sections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h4–h6 rarely needed; don't skip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help SEO &amp; screen-reader navigation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Paragraphs, Line Breaks &amp; Horizontal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8595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— adds space before &amp; after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block of text into a standalone paragraph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190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190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17739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break — moves content to next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 tag; no new paragraph created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33472"/>
            <a:ext cx="1188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633472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2688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rule — draws a dividing 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Self-closing; used to separate sections visually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example.html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77056"/>
            <a:ext cx="4663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the first paragraph. It has space around it.&lt;/p&gt;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&lt;p&gt;Second paragraph starts here.&lt;br&gt;This line uses a break tag.&lt;br&gt;Another line.&lt;/p&gt;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&lt;p&gt;Content after the divider line.&lt;/p&gt;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3547872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3547872"/>
            <a:ext cx="347472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3566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3840480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paragraph. It has space around it.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paragraph starts here.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uses a break tag.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line.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after the divider 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 Tags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9692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(visual only)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9344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60934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7739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+ semantic importance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719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17739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14016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41401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25786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(visual only)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18688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21868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3383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+ semantic emphasis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328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23360"/>
            <a:ext cx="1280160" cy="658368"/>
          </a:xfrm>
          <a:prstGeom prst="roundRect">
            <a:avLst>
              <a:gd name="adj" fmla="val 13889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0233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4187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(visual only)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Tag    Description                                  Preview 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in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Unordered &amp; Description Lists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Lists  —  &lt;ol&gt;, &lt;ul&gt;, &lt;dl&gt;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 Ordered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numbered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sequence matters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Steps, Rankings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892808"/>
            <a:ext cx="2633472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002536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&lt;li&gt;Boil water&lt;/li&gt;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&lt;li&gt;Add pasta&lt;/li&gt;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&lt;li&gt;Drain&lt;/li&gt;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 Unordered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207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bulleted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order doesn't matter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Features, Grocery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1892808"/>
            <a:ext cx="2651760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92424" y="20025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&lt;li&gt;CSS&lt;/li&gt;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&lt;li&gt;JavaScript&lt;/li&gt;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804672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04672"/>
            <a:ext cx="2679192" cy="347472"/>
          </a:xfrm>
          <a:prstGeom prst="roundRect">
            <a:avLst>
              <a:gd name="adj" fmla="val 31579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804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&lt;dl&gt;  Description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2070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+ description pairs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glossaries, FAQs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&lt;dt&gt; term  /  &lt;dd&gt; definition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892808"/>
            <a:ext cx="2624328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002536"/>
            <a:ext cx="2350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&lt;dt&gt;HTML&lt;/dt&gt;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&lt;dd&gt;Markup language&lt;/dd&gt;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&lt;dt&gt;CSS&lt;/dt&gt;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&lt;dd&gt;Style language&lt;/dd&gt;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35808"/>
            <a:ext cx="269748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54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Ordered list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28416"/>
            <a:ext cx="2423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Boil water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pasta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035808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35808"/>
            <a:ext cx="27432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54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Unordered list 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3328416"/>
            <a:ext cx="24688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53328" y="3035808"/>
            <a:ext cx="277063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3035808"/>
            <a:ext cx="2770632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3054096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Description list 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0488" y="3328416"/>
            <a:ext cx="24963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Markup language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Style language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Images &amp;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pages • Embedding media • Displaying data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 &lt;a&gt;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 Us&lt;/a&gt;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another page on the same 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href="https://google.com"&gt;Google&lt;/a&gt;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0482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a different website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href="..." target="_blank"&gt;Open&lt;/a&gt;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30723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link in a new browser tab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href="mailto:hi@email.com"&gt;Email&lt;/a&gt;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096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user's email app with recipient pre-filled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 &lt;img src="" alt=""&gt;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 → file path or URL of the image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 → descriptive text if image fails to load (accessibility + SEO)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is self-closing — no closing tag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 control display size (or use CSS)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127248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Local image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 alt="A mountain sunset"&gt;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Web URL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src="https://site.com/logo.png"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alt="Site logo" width="200"&gt;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Missing image shows alt text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src="missing.jpg" alt="Product photo"&gt;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Breakdown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261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"images/dog.jpg"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image 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824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682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"A cute dog"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103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"300"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width in px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5237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"200"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height in px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27248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27248"/>
            <a:ext cx="41148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145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If image loads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419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[image displays here]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4059936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4059936"/>
            <a:ext cx="41148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If image fails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 text shown instead)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&lt;table&gt;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8046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92808" y="80467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whole 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5448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" y="155448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92808" y="15544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04288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230428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92808" y="230428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 cell (bold, centered)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804672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804672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8046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48" y="80467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cell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155448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155448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62856" y="155448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colspan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9048" y="15544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spans multiple columns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2304288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2304288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230428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rowspan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48" y="230428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spans multiple rows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4023360" cy="1993392"/>
          </a:xfrm>
          <a:prstGeom prst="roundRect">
            <a:avLst>
              <a:gd name="adj" fmla="val 458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table.html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19856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&lt;th&gt;Name&lt;/th&gt;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&lt;th&gt;Age&lt;/th&gt;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&lt;th&gt;City&lt;/th&gt;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&lt;td&gt;Alice&lt;/td&gt;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&lt;td&gt;25&lt;/td&gt;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&lt;td&gt;Mumbai&lt;/td&gt;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&lt;td&gt;Bob&lt;/td&gt;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&lt;td&gt;30&lt;/td&gt;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&lt;td&gt;Delhi&lt;/td&gt;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3090672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090672"/>
            <a:ext cx="420624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Output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401568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Media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types, form elements, attributes, video &amp; audio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18488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entry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11521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placeholder="Enter name"&gt;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65376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653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88" y="1938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18488" y="2212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placeholder="you@mail.com"&gt;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848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entry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18488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 placeholder="Enter password"&gt;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86784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8678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18488" y="4059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selections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18488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type="checkbox"&gt; Option 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04672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53328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11521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name="g" value="f"&gt; Female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6537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65376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8653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53328" y="1938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53328" y="2212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type="file"&gt;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5332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53328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type="submit" value="Register"&gt;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 &amp; Attributes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— wraps all form controls; has action &amp;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&lt;label&gt; — labels an input (for= pairs with id=)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— dropdown list; uses &lt;option&gt; inside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 — multi-line text input (rows= cols=)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— clickable button (type="submit")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Attributes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38404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makes field mandatory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hint text inside input box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key sent to the server (backend)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default / initial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get or post (HTTP method)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URL/API endpoint where data is 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850392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8229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action="/register" method="post"&gt;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for="uname"&gt;Username:&lt;/label&gt;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id="uname" name="username"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username" required&gt;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for="country"&gt;Country:&lt;/label&gt;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id="country" name="country"&gt;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&lt;option&gt;India&lt;/option&gt;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&lt;option&gt;USA&lt;/option&gt;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name="bio" rows="3" placeholder="About you"&gt;&lt;/textarea&gt;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Tags  —  &lt;video&gt; &amp; &lt;audio&gt;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  Embed Video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src="clip.mp4"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width="400"&gt;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→ show play/pause bar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→ replay automatically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→ start without sound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  Embed Audio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98448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src="music.mp3"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controls&gt;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Multiple formats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src="s.mp3"&gt;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src="s.ogg"&gt;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52374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controls so user can play/pause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&lt;source&gt; for browser compatibility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82112"/>
            <a:ext cx="41148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Video browser 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840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[▶  00:00 ━━━━━━━━━━━━ 🔊]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┌──────────────────┐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│   VIDEO PLAYER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└──────────────────┘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82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82112"/>
            <a:ext cx="411480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Audio browser output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840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[▶  00:00 ━━━━━━━━ 🔊]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(audio player bar)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&lt;footer&gt;  &lt;nav&gt;  &lt;section&gt;  &lt;article&gt;  &lt;aside&gt;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— Why They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4248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content, site logo, main heading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94560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84248" y="2578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of navigation links (menus, pagination)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84448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0891B2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84448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84248" y="39684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thematic group of content (has a heading)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04672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059669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804672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content: blog post, news 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194560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2578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Tangentially related: sidebar, ads, related links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42062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84448"/>
            <a:ext cx="1554480" cy="1243584"/>
          </a:xfrm>
          <a:prstGeom prst="roundRect">
            <a:avLst>
              <a:gd name="adj" fmla="val 7353"/>
            </a:avLst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584448"/>
            <a:ext cx="1463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9088" y="39684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info: copyright, author, contact links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Layout — Visual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Logo + Nav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19072"/>
            <a:ext cx="4754880" cy="347472"/>
          </a:xfrm>
          <a:prstGeom prst="roundRect">
            <a:avLst>
              <a:gd name="adj" fmla="val 21053"/>
            </a:avLst>
          </a:prstGeom>
          <a:solidFill>
            <a:srgbClr val="1A234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190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 Home | About | Contact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39696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3113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Blog Post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67912" y="2139696"/>
            <a:ext cx="1298448" cy="1645920"/>
          </a:xfrm>
          <a:prstGeom prst="roundRect">
            <a:avLst>
              <a:gd name="adj" fmla="val 5634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2231136"/>
            <a:ext cx="1115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404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 Related Articles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31596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 © 2025 My Site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804672"/>
            <a:ext cx="3154680" cy="4160520"/>
          </a:xfrm>
          <a:prstGeom prst="roundRect">
            <a:avLst>
              <a:gd name="adj" fmla="val 289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8778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semantic.html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1133856"/>
            <a:ext cx="288036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&lt;head&gt;...&lt;/head&gt;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href="/"&gt;Home&lt;/a&gt;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href="/about"&gt;About&lt;/a&gt;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&lt;h2&gt;Blog Post Title&lt;/h2&gt;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&lt;p&gt;Post content here...&lt;/p&gt;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&lt;h3&gt;Related Posts&lt;/h3&gt;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&lt;p&gt;Advertisement&lt;/p&gt;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&lt;/aside&gt;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&lt;p&gt;© 2025 My Site&lt;/p&gt;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&lt;/footer&gt;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 &amp; Common Attributes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id, class, style, block vs inline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vs span  &amp;  Block vs Inline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 Block Container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Block-level: starts on a new line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full available width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page sections &amp; layout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Styled with CSS for layout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  Inline Container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225296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Inline: stays within the text flow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only as much width as needed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to style part of text or group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contain block elements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div-span.html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47548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style="background: lightblue; padding: 10px;"&gt;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is a block div — full width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style="color: red; font-weight: bold;"&gt;red bold&lt;/span&gt;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this continues inline.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style="background: lightyellow; padding: 10px;"&gt;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 div starts on a new line.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743200"/>
            <a:ext cx="3337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743200"/>
            <a:ext cx="3337560" cy="256032"/>
          </a:xfrm>
          <a:prstGeom prst="rect">
            <a:avLst>
              <a:gd name="adj" fmla="val 35714"/>
            </a:avLst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59552" y="3035808"/>
            <a:ext cx="3191256" cy="51206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block div — full width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96128" y="327355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27355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this continues inline.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59552" y="3584448"/>
            <a:ext cx="3191256" cy="566928"/>
          </a:xfrm>
          <a:prstGeom prst="rect">
            <a:avLst/>
          </a:prstGeom>
          <a:solidFill>
            <a:srgbClr val="FEFCE8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div starts on a new line.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70832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line?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div, p, h1–h6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span, a, 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Attributes  —  id, class, style, src, href, alt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an element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id="main-title"&gt;Title&lt;/h1&gt;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0680" y="960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CSS (#main-title) and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17904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17904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17904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elements for shared styling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class="highlight"&gt;Text&lt;/p&gt;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673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CSS (.highlight) — reusable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31136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31136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31136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styling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542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style="color:blue;"&gt;Blue text&lt;/p&gt;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styling; external CSS preferred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44368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944368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 for media/scripts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255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30998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&lt;img&gt;, &lt;script&gt;, &lt;iframe&gt;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57600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657600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for hyperlinks/stylesheets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3968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href="https://site.com"&gt;Click&lt;/a&gt;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8130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&lt;a&gt; and &lt;link&gt; tags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70832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370832"/>
            <a:ext cx="82296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370832"/>
            <a:ext cx="768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407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text for images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4681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src="dog.jpg" alt="A dog"&gt;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+ SEO — always add this!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&lt;!-- --&gt;  &amp;  Summary: HTML Day 1 &amp;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Comments  &lt;!-- --&gt;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859536"/>
          </a:xfrm>
          <a:prstGeom prst="roundRect">
            <a:avLst>
              <a:gd name="adj" fmla="val 1063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is a comment — not visible to users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&lt;h1&gt;Page Title&lt;/h1&gt;  &lt;!-- Main heading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TODO: Add contact form here --&gt;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77977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24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 of web pages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77977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724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organize content semantically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5526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83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collect user input (action, method)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5526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3832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tags embed video &amp; audio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98678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improve accessibility &amp; SEO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587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8678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full width | inline = content width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590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unique | class = reusable groups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4622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4590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= accessibility for images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selectors &amp; how to apply CSS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  |  CSS = appearance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colors, fonts, layout, spacing, animations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design from content for easier maintenance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CSS file can style hundreds of HTML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80467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Apply 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3840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→ style="" attribute directly on element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→ &lt;style&gt; tag inside &lt;head&gt;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→ separate .css file (BEST PRACTICE)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57200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46704"/>
            <a:ext cx="42976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Inline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red; font-size: 18px;"&gt;Red text&lt;/p&gt;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Internal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{ color: blue; font-size: 16px;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External (in .html file) --&gt;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379476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3346704"/>
            <a:ext cx="3520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 &amp; Selectors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29184"/>
          </a:xfrm>
          <a:prstGeom prst="roundRect">
            <a:avLst>
              <a:gd name="adj" fmla="val 33333"/>
            </a:avLst>
          </a:prstGeom>
          <a:solidFill>
            <a:srgbClr val="1A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859536"/>
          </a:xfrm>
          <a:prstGeom prst="roundRect">
            <a:avLst>
              <a:gd name="adj" fmla="val 1063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{    color   :    red    ;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94560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194560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all &lt;p&gt; tags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h1, a, img, 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27248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1A2340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127248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 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elements with class=menu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elements, reusable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59936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059936"/>
            <a:ext cx="1133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151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517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 with id=header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only, most specific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Properties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• Backgrounds • Box Model • Positioning • Pseudo-classes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Typography 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877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font style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8778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"Arial", sans-serif;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81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481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81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18px;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084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084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#2563EB;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6883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88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bold; /* or 400, 700 */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291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3291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2918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center; /* left|right|justify */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895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3895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/ strikethrough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8953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underline;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425696"/>
            <a:ext cx="8503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498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44988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spacing between lines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4988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937760"/>
            <a:ext cx="8503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9560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font-family: Arial; font-size: 16px; color: navy; font-weight: bold; text-align: center; line-height: 1.8; }  →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4956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centered navy text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Background 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9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69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background color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40680" y="9692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background-color: #DBEAFE;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73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image as 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773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background-image: url('bg.jpg');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578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background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5786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background-size: cover; /* or contain */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832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3832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image repeat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383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background-repeat: no-repeat;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35424"/>
            <a:ext cx="3840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#1E40AF;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 url('pattern.png');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background-size: cover;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no-repeat;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#DBEAFE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13832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93C5FD"/>
          </a:solidFill>
          <a:ln/>
        </p:spPr>
      </p:sp>
      <p:sp>
        <p:nvSpPr>
          <p:cNvPr id="26" name="Text 24"/>
          <p:cNvSpPr/>
          <p:nvPr/>
        </p:nvSpPr>
        <p:spPr>
          <a:xfrm>
            <a:off x="5513832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#93C5FD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18504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23176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123176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#1D4ED8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927848" y="42062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7927848" y="49560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#1E3A8A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5193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color swatches (blue range)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5468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vs contain: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5650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= fills area (may crop)  |  contain = fits inside (no crop)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Box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754880" cy="4160520"/>
          </a:xfrm>
          <a:prstGeom prst="roundRect">
            <a:avLst>
              <a:gd name="adj" fmla="val 2637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115568"/>
            <a:ext cx="3931920" cy="3547872"/>
          </a:xfrm>
          <a:prstGeom prst="roundRect">
            <a:avLst>
              <a:gd name="adj" fmla="val 257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33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426464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1792224"/>
            <a:ext cx="2468880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23591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× height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20700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632704" y="1170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32704" y="1426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border (transparent)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95681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632704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32704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around the element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2706624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2670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32704" y="2926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content &amp; border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456432"/>
            <a:ext cx="201168" cy="201168"/>
          </a:xfrm>
          <a:prstGeom prst="ellipse">
            <a:avLst/>
          </a:prstGeom>
          <a:solidFill>
            <a:srgbClr val="1A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5632704" y="3419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32704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text/image area (width × height)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21808" y="4059936"/>
            <a:ext cx="3474720" cy="905256"/>
          </a:xfrm>
          <a:prstGeom prst="roundRect">
            <a:avLst>
              <a:gd name="adj" fmla="val 1010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58968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58968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100px;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 navy;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30px;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2px 2px 8px gray;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Pseudo-classes, Display &amp; Positioning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624328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298448"/>
            <a:ext cx="23500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color: red;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a:visited { color: purple;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button:active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darkblue;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A234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Property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33472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298448"/>
            <a:ext cx="2359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.block { display: block;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.inline { display: inline;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.flex-container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04672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1188720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1298448"/>
            <a:ext cx="2377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 { position: static;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 { position: relative;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top: 10px;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 { position: absolute;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left: 0; top: 0; 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44368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9443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&amp; clear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2944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left / right  → moves element so text wraps around it   |   clear: both  → stops wrapping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4904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— follows normal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from its normal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Positioned relative to nearest positioned ancestor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to the viewport (doesn't scroll)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structure &amp; document anatomy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Headings, paragraphs, formatting tags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3273552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Lists, links, images,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Forms, inputs, media tags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HTML5 tags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803904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div, span, block vs inline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syntax, selectors &amp; 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Typography, backgrounds, box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433425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Pseudo-classes, display &amp; positioning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JavaScript  •  Happy coding!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Development: HTML &amp; CSS</dc:title>
  <dc:subject>PptxGenJS Presentation</dc:subject>
  <dc:creator>PptxGenJS</dc:creator>
  <cp:lastModifiedBy>PptxGenJS</cp:lastModifiedBy>
  <cp:revision>1</cp:revision>
  <dcterms:created xsi:type="dcterms:W3CDTF">2026-06-17T13:53:54Z</dcterms:created>
  <dcterms:modified xsi:type="dcterms:W3CDTF">2026-06-17T13:53:54Z</dcterms:modified>
</cp:coreProperties>
</file>